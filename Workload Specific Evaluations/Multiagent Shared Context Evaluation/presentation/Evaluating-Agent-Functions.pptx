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0972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500" b="1">
                <a:solidFill>
                  <a:srgbClr val="129E8F"/>
                </a:solidFill>
                <a:latin typeface="Calibri"/>
              </a:rPr>
              <a:t>EVALUATING AGENT FUNCTIONS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Different personas, different metrics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900" b="0">
                <a:solidFill>
                  <a:srgbClr val="C9D6EA"/>
                </a:solidFill>
                <a:latin typeface="Calibri"/>
              </a:rPr>
              <a:t>Why the same agent looks “good” or “broken” depending on who is looking —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900" b="0">
                <a:solidFill>
                  <a:srgbClr val="C9D6EA"/>
                </a:solidFill>
                <a:latin typeface="Calibri"/>
              </a:rPr>
              <a:t>and the three cautions that keep persona dashboards from misleading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300" b="0">
                <a:solidFill>
                  <a:srgbClr val="9FB2D0"/>
                </a:solidFill>
                <a:latin typeface="Calibri"/>
              </a:rPr>
              <a:t>Example: market_trends_analyst  •  Multiagent Shared Context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BFD0EA"/>
                </a:solidFill>
                <a:latin typeface="Calibri"/>
              </a:rPr>
              <a:t>THE PERSONA LENS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same metric suite, four different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A metric suite inherits the blind spot of its author. This one was built by a platform mindset — great on flow, silent on 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269748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57400"/>
            <a:ext cx="2697480" cy="457200"/>
          </a:xfrm>
          <a:prstGeom prst="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PM / Domain Expert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587752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250" b="1">
                <a:solidFill>
                  <a:srgbClr val="6B4EC4"/>
                </a:solidFill>
                <a:latin typeface="Calibri"/>
              </a:rPr>
              <a:t>“Is the output actually good?”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017520"/>
            <a:ext cx="2368296" cy="868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Groundedness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Analysis Quality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State Consistency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2057400"/>
            <a:ext cx="269748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9272" y="2057400"/>
            <a:ext cx="2697480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Application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587752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250" b="1">
                <a:solidFill>
                  <a:srgbClr val="2D6CDF"/>
                </a:solidFill>
                <a:latin typeface="Calibri"/>
              </a:rPr>
              <a:t>“Do the contracts hold?”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3017520"/>
            <a:ext cx="2368296" cy="868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Handoff Completeness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Context Freshness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Context Utilization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Write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2057400"/>
            <a:ext cx="269748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35624" y="2057400"/>
            <a:ext cx="2697480" cy="45720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Platform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587752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“Is the substrate efficient?”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017520"/>
            <a:ext cx="2368296" cy="868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Redundancy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Context Compression (CCR)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C2 Alignment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057400"/>
            <a:ext cx="269748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1976" y="2057400"/>
            <a:ext cx="2697480" cy="45720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Prod Ops / SRE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2587752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250" b="1">
                <a:solidFill>
                  <a:srgbClr val="E08A1E"/>
                </a:solidFill>
                <a:latin typeface="Calibri"/>
              </a:rPr>
              <a:t>“Is it fast, cheap, stable?”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3017520"/>
            <a:ext cx="2368296" cy="868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Read / Write Latency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Coordination Latency %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150" b="0">
                <a:solidFill>
                  <a:srgbClr val="1A1F2B"/>
                </a:solidFill>
                <a:latin typeface="Calibri"/>
              </a:rPr>
              <a:t>Coordination Token 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206240"/>
            <a:ext cx="11201400" cy="196596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64592"/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400" b="1">
                <a:solidFill>
                  <a:srgbClr val="0F2A4A"/>
                </a:solidFill>
                <a:latin typeface="Calibri"/>
              </a:rPr>
              <a:t>Rows = what “good job” means (function questions):</a:t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input fidelity  •  core task quality  •  output fidelity  •  resource efficiency</a:t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Columns = who leads on each row, and when. Same underlying scores — different projection.</a:t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300" b="1">
                <a:solidFill>
                  <a:srgbClr val="6B4EC4"/>
                </a:solidFill>
                <a:latin typeface="Calibri"/>
              </a:rPr>
              <a:t>The gap we found: the “core task quality” row was empty because no PM/domain persona was in the room when the suite was authored.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BFD0EA"/>
                </a:solidFill>
                <a:latin typeface="Calibri"/>
              </a:rPr>
              <a:t>THE CATCH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Partitioning by persona helps triage — but three things bite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38528"/>
            <a:ext cx="9418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2100" b="1">
                <a:solidFill>
                  <a:srgbClr val="1A1F2B"/>
                </a:solidFill>
                <a:latin typeface="Calibri"/>
              </a:rPr>
              <a:t>Failures hide in the seams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Green for one persona, red for another — on the same event.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54680"/>
            <a:ext cx="108813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474720"/>
            <a:ext cx="640080" cy="640080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55848"/>
            <a:ext cx="9418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2100" b="1">
                <a:solidFill>
                  <a:srgbClr val="1A1F2B"/>
                </a:solidFill>
                <a:latin typeface="Calibri"/>
              </a:rPr>
              <a:t>Same metric, different meaning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One number, several interpretations and thresholds.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72000"/>
            <a:ext cx="108813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892040"/>
            <a:ext cx="640080" cy="640080"/>
          </a:xfrm>
          <a:prstGeom prst="ellipse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773168"/>
            <a:ext cx="9418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2100" b="1">
                <a:solidFill>
                  <a:srgbClr val="1A1F2B"/>
                </a:solidFill>
                <a:latin typeface="Calibri"/>
              </a:rPr>
              <a:t>Persona ≠ lifecycle stage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Who is looking is a different axis from when.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BFD0EA"/>
                </a:solidFill>
                <a:latin typeface="Calibri"/>
              </a:rPr>
              <a:t>THE DATASET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What you evaluate against: grounded research briefs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You cannot judge “good analysis” without a reference. Step 1 of the loop is a dataset: briefs + the verifiable facts each one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011680"/>
            <a:ext cx="23317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300" b="1">
                <a:solidFill>
                  <a:srgbClr val="6B4EC4"/>
                </a:solidFill>
                <a:latin typeface="Calibri"/>
              </a:rPr>
              <a:t>Research brief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2840" y="2267712"/>
            <a:ext cx="500920" cy="274320"/>
          </a:xfrm>
          <a:prstGeom prst="rightArrow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94760" y="2011680"/>
            <a:ext cx="23317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market_trends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27480" y="2267712"/>
            <a:ext cx="500920" cy="274320"/>
          </a:xfrm>
          <a:prstGeom prst="rightArrow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29400" y="2011680"/>
            <a:ext cx="23317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300" b="1">
                <a:solidFill>
                  <a:srgbClr val="129E8F"/>
                </a:solidFill>
                <a:latin typeface="Calibri"/>
              </a:rPr>
              <a:t>customer_insights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62120" y="2267712"/>
            <a:ext cx="500920" cy="274320"/>
          </a:xfrm>
          <a:prstGeom prst="rightArrow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64040" y="2011680"/>
            <a:ext cx="233172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300" b="1">
                <a:solidFill>
                  <a:srgbClr val="0F2A4A"/>
                </a:solidFill>
                <a:latin typeface="Calibri"/>
              </a:rPr>
              <a:t>strategy_synth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54680"/>
            <a:ext cx="5486400" cy="2514600"/>
          </a:xfrm>
          <a:prstGeom prst="roundRect">
            <a:avLst/>
          </a:prstGeom>
          <a:solidFill>
            <a:srgbClr val="1B222E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tIns="182880"/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300" b="1">
                <a:solidFill>
                  <a:srgbClr val="7FD0C8"/>
                </a:solidFill>
                <a:latin typeface="Calibri"/>
              </a:rPr>
              <a:t>datasets/research_briefs.jsonl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{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>
                <a:solidFill>
                  <a:srgbClr val="D6DEEA"/>
                </a:solidFill>
                <a:latin typeface="Calibri"/>
              </a:rPr>
              <a:t>  "id": "brief-01-fastcasual",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>
                <a:solidFill>
                  <a:srgbClr val="D6DEEA"/>
                </a:solidFill>
                <a:latin typeface="Calibri"/>
              </a:rPr>
              <a:t>  "turns": [ "Analyse the fast-casual market…" ],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>
                <a:solidFill>
                  <a:srgbClr val="9CD1FF"/>
                </a:solidFill>
                <a:latin typeface="Calibri"/>
              </a:rPr>
              <a:t>  "facts": { market_size: $60B, growth: 8%,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>
                <a:solidFill>
                  <a:srgbClr val="9CD1FF"/>
                </a:solidFill>
                <a:latin typeface="Calibri"/>
              </a:rPr>
              <a:t>            players: [Chipotle, Panera, Sweetgreen] },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>
                <a:solidFill>
                  <a:srgbClr val="D6DEEA"/>
                </a:solidFill>
                <a:latin typeface="Calibri"/>
              </a:rPr>
              <a:t>  "premise_valid": true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154680"/>
            <a:ext cx="5349240" cy="2514600"/>
          </a:xfrm>
          <a:prstGeom prst="roundRect">
            <a:avLst/>
          </a:prstGeom>
          <a:solidFill>
            <a:srgbClr val="F2F5FA"/>
          </a:solidFill>
          <a:ln w="19050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82880"/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400" b="1">
                <a:solidFill>
                  <a:srgbClr val="6B4EC4"/>
                </a:solidFill>
                <a:latin typeface="Calibri"/>
              </a:rPr>
              <a:t>facts  →  source_facts  →  Groundedness judge</a:t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The stated facts become the ground-truth reference. The judge checks whether each agent’s output stays faithful to them — not just internally consistent.</a:t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500" b="0">
                <a:solidFill>
                  <a:srgbClr val="5B6470"/>
                </a:solidFill>
                <a:latin typeface="Calibri"/>
              </a:rPr>
              <a:t/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250" b="1">
                <a:solidFill>
                  <a:srgbClr val="0F2A4A"/>
                </a:solidFill>
                <a:latin typeface="Calibri"/>
              </a:rPr>
              <a:t>Option A (now):</a:t>
            </a:r>
            <a:r>
              <a:rPr sz="1250" b="0">
                <a:solidFill>
                  <a:srgbClr val="1A1F2B"/>
                </a:solidFill>
                <a:latin typeface="Calibri"/>
              </a:rPr>
              <a:t> briefs + verifiable facts, no gold answers.</a:t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250" b="1">
                <a:solidFill>
                  <a:srgbClr val="5B6470"/>
                </a:solidFill>
                <a:latin typeface="Calibri"/>
              </a:rPr>
              <a:t>Option B (later):</a:t>
            </a:r>
            <a:r>
              <a:rPr sz="1250" b="0">
                <a:solidFill>
                  <a:srgbClr val="5B6470"/>
                </a:solidFill>
                <a:latin typeface="Calibri"/>
              </a:rPr>
              <a:t> add per-stage “good answer” references.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5806440"/>
            <a:ext cx="5349240" cy="685800"/>
          </a:xfrm>
          <a:prstGeom prst="roundRect">
            <a:avLst/>
          </a:prstGeom>
          <a:solidFill>
            <a:srgbClr val="FDF3E2"/>
          </a:solidFill>
          <a:ln w="1905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/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50" b="1">
                <a:solidFill>
                  <a:srgbClr val="E08A1E"/>
                </a:solidFill>
                <a:latin typeface="Calibri"/>
              </a:rPr>
              <a:t>⚠ One brief has a flawed premise</a:t>
            </a:r>
            <a:r>
              <a:rPr sz="1200" b="0">
                <a:solidFill>
                  <a:srgbClr val="1A1F2B"/>
                </a:solidFill>
                <a:latin typeface="Calibri"/>
              </a:rPr>
              <a:t> — a good analyst should flag it, not restate the fake numbers.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BFD0EA"/>
                </a:solidFill>
                <a:latin typeface="Calibri"/>
              </a:rPr>
              <a:t>TRUST THE JUDGE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Who validates the validator? A human-in-the-loop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An LLM grades the pipeline. But nothing grades the LLM — until a human labels ground truth and we measure how often the judge agrees.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2084831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2084831" cy="42062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1 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60904"/>
            <a:ext cx="1755647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Calibri"/>
              </a:rPr>
              <a:t>Run every brief through the pipeline (live).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88251" y="2788920"/>
            <a:ext cx="145304" cy="365760"/>
          </a:xfrm>
          <a:prstGeom prst="rightArrow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34055" y="2148840"/>
            <a:ext cx="2084831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2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34055" y="2148840"/>
            <a:ext cx="2084831" cy="420624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2 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7" y="2660904"/>
            <a:ext cx="1755647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Calibri"/>
              </a:rPr>
              <a:t>Dump each output to a review file with its expected behavior.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19386" y="2788920"/>
            <a:ext cx="145304" cy="365760"/>
          </a:xfrm>
          <a:prstGeom prst="rightArrow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65190" y="2148840"/>
            <a:ext cx="2084831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65190" y="2148840"/>
            <a:ext cx="2084831" cy="420624"/>
          </a:xfrm>
          <a:prstGeom prst="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3  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2" y="2660904"/>
            <a:ext cx="1755647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Calibri"/>
              </a:rPr>
              <a:t>Human reads output + rule, marks PASS / FAIL + one-line reason.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50521" y="2788920"/>
            <a:ext cx="145304" cy="365760"/>
          </a:xfrm>
          <a:prstGeom prst="rightArrow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96325" y="2148840"/>
            <a:ext cx="2084831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96325" y="2148840"/>
            <a:ext cx="2084831" cy="420624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4 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7" y="2660904"/>
            <a:ext cx="1755647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Calibri"/>
              </a:rPr>
              <a:t>Run the judge on the same cases; compare to the human labels.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81656" y="2788920"/>
            <a:ext cx="145304" cy="365760"/>
          </a:xfrm>
          <a:prstGeom prst="rightArrow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27460" y="2148840"/>
            <a:ext cx="2084831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27460" y="2148840"/>
            <a:ext cx="2084831" cy="42062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5  FOLD 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2" y="2660904"/>
            <a:ext cx="1755647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>
                <a:solidFill>
                  <a:srgbClr val="1A1F2B"/>
                </a:solidFill>
                <a:latin typeface="Calibri"/>
              </a:rPr>
              <a:t>Labels become the benchmark; re-run as the judge/prompts change.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251960"/>
            <a:ext cx="5486400" cy="1874519"/>
          </a:xfrm>
          <a:prstGeom prst="roundRect">
            <a:avLst/>
          </a:prstGeom>
          <a:solidFill>
            <a:srgbClr val="FDF3E2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82880"/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Watch the false positives</a:t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The dangerous error is the judge passing an output a human failed — a silent quality miss. Track those, not just overall accuracy.</a:t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500" b="0">
                <a:solidFill>
                  <a:srgbClr val="5B6470"/>
                </a:solidFill>
                <a:latin typeface="Calibri"/>
              </a:rPr>
              <a:t/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250" b="1">
                <a:solidFill>
                  <a:srgbClr val="0F2A4A"/>
                </a:solidFill>
                <a:latin typeface="Calibri"/>
              </a:rPr>
              <a:t>Confusion matrix, human vs judge:</a:t>
            </a:r>
            <a:r>
              <a:rPr sz="1250" b="0">
                <a:solidFill>
                  <a:srgbClr val="1A1F2B"/>
                </a:solidFill>
                <a:latin typeface="Calibri"/>
              </a:rPr>
              <a:t>  pass/pass, fail/fail = agree;  fail→pass = false positive.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251960"/>
            <a:ext cx="5486400" cy="1874519"/>
          </a:xfrm>
          <a:prstGeom prst="roundRect">
            <a:avLst/>
          </a:prstGeom>
          <a:solidFill>
            <a:srgbClr val="F2F5FA"/>
          </a:solidFill>
          <a:ln w="19050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82880"/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500" b="1">
                <a:solidFill>
                  <a:srgbClr val="6B4EC4"/>
                </a:solidFill>
                <a:latin typeface="Calibri"/>
              </a:rPr>
              <a:t>The human is the ground truth</a:t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You grade against the case’s expected behavior — not “is this good analysis?” Cite specific evidence; when unsure, default to FAIL.</a:t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500" b="0">
                <a:solidFill>
                  <a:srgbClr val="5B6470"/>
                </a:solidFill>
                <a:latin typeface="Calibri"/>
              </a:rPr>
              <a:t/>
            </a:r>
          </a:p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250" b="1">
                <a:solidFill>
                  <a:srgbClr val="0F2A4A"/>
                </a:solidFill>
                <a:latin typeface="Calibri"/>
              </a:rPr>
              <a:t>Seed labels are synthetic</a:t>
            </a:r>
            <a:r>
              <a:rPr sz="1250" b="0">
                <a:solidFill>
                  <a:srgbClr val="1A1F2B"/>
                </a:solidFill>
                <a:latin typeface="Calibri"/>
              </a:rPr>
              <a:t> until replaced with human-labeled real outputs.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BFD0EA"/>
                </a:solidFill>
                <a:latin typeface="Calibri"/>
              </a:rPr>
              <a:t>CAUTION 1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Failures hide in the seams between personas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01168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CAUTION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2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118872" cy="141732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12264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129E8F"/>
                </a:solidFill>
                <a:latin typeface="Calibri"/>
              </a:rPr>
              <a:t>Engineer's view: Write Accuracy = 5/5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“The output is consistent with the input it was given.”  → looks healthy.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548640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18872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712464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PM's view: Groundedness = 2/5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“The output does not match reality — the input premise was wrong.”  → broken.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65960"/>
            <a:ext cx="5349240" cy="3931920"/>
          </a:xfrm>
          <a:prstGeom prst="roundRect">
            <a:avLst/>
          </a:prstGeom>
          <a:solidFill>
            <a:srgbClr val="F2F5FA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256032" tIns="256032"/>
          <a:lstStyle/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600" b="1">
                <a:solidFill>
                  <a:srgbClr val="1A1F2B"/>
                </a:solidFill>
                <a:latin typeface="Calibri"/>
              </a:rPr>
              <a:t>Same agent. Same turn. Two personas, opposite verdicts.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If each persona reads only their own column, nobody owns the seam — and the seam is exactly where the failure lives.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600" b="0">
                <a:solidFill>
                  <a:srgbClr val="5B6470"/>
                </a:solidFill>
                <a:latin typeface="Calibri"/>
              </a:rPr>
              <a:t/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Personas are lenses, not owners.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Everyone gets a home dashboard, but quality gates require a cross-persona read. Partitioning improves triage; taken as strict ownership it worsens detection.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2148840"/>
            <a:ext cx="3108960" cy="38404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THE TRAP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BFD0EA"/>
                </a:solidFill>
                <a:latin typeface="Calibri"/>
              </a:rPr>
              <a:t>CAUTION 2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same metric means different things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011680" cy="384048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CAUTION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118872" cy="14173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12264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E08A1E"/>
                </a:solidFill>
                <a:latin typeface="Calibri"/>
              </a:rPr>
              <a:t>Coordination Token %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SRE reads it as COST. Engineer reads it as context bloat / prompt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548640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18872" cy="14173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712464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2D6CDF"/>
                </a:solidFill>
                <a:latin typeface="Calibri"/>
              </a:rPr>
              <a:t>Latency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Ops reads it as an SLA. PM reads it as user-perceived responsiveness.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65960"/>
            <a:ext cx="5349240" cy="3931920"/>
          </a:xfrm>
          <a:prstGeom prst="roundRect">
            <a:avLst/>
          </a:prstGeom>
          <a:solidFill>
            <a:srgbClr val="F2F5FA"/>
          </a:solidFill>
          <a:ln w="25400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256032" tIns="256032"/>
          <a:lstStyle/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600" b="1">
                <a:solidFill>
                  <a:srgbClr val="1A1F2B"/>
                </a:solidFill>
                <a:latin typeface="Calibri"/>
              </a:rPr>
              <a:t>One number ≠ one meaning.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The metric is shared; the interpretation and the threshold are not.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600" b="0">
                <a:solidFill>
                  <a:srgbClr val="5B6470"/>
                </a:solidFill>
                <a:latin typeface="Calibri"/>
              </a:rPr>
              <a:t/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500" b="1">
                <a:solidFill>
                  <a:srgbClr val="E08A1E"/>
                </a:solidFill>
                <a:latin typeface="Calibri"/>
              </a:rPr>
              <a:t>A persona view = metric + interpretation + threshold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…not just a filtered column list. Don’t assume a shared definition just because you share a column header.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2148840"/>
            <a:ext cx="3108960" cy="384048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THE TRAP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00" b="1">
                <a:solidFill>
                  <a:srgbClr val="BFD0EA"/>
                </a:solidFill>
                <a:latin typeface="Calibri"/>
              </a:rPr>
              <a:t>CAUTION 3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Persona is a different axis from lifecycle stage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011680" cy="384048"/>
          </a:xfrm>
          <a:prstGeom prst="round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CAUTION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118872" cy="1417320"/>
          </a:xfrm>
          <a:prstGeom prst="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12264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6B4EC4"/>
                </a:solidFill>
                <a:latin typeface="Calibri"/>
              </a:rPr>
              <a:t>WHO  (persona)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PM / Domain • App Engineer • Platform • SRE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5486400" cy="14173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18872" cy="141732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712464"/>
            <a:ext cx="4983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500" b="1">
                <a:solidFill>
                  <a:srgbClr val="2D6CDF"/>
                </a:solidFill>
                <a:latin typeface="Calibri"/>
              </a:rPr>
              <a:t>WHEN  (stage)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300" b="0">
                <a:solidFill>
                  <a:srgbClr val="1A1F2B"/>
                </a:solidFill>
                <a:latin typeface="Calibri"/>
              </a:rPr>
              <a:t>Design • Code • Deploy • Operate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65960"/>
            <a:ext cx="5349240" cy="3931920"/>
          </a:xfrm>
          <a:prstGeom prst="roundRect">
            <a:avLst/>
          </a:prstGeom>
          <a:solidFill>
            <a:srgbClr val="F2F5FA"/>
          </a:solidFill>
          <a:ln w="25400">
            <a:solidFill>
              <a:srgbClr val="6B4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92608" rIns="256032" tIns="256032"/>
          <a:lstStyle/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600" b="1">
                <a:solidFill>
                  <a:srgbClr val="1A1F2B"/>
                </a:solidFill>
                <a:latin typeface="Calibri"/>
              </a:rPr>
              <a:t>They correlate — but they are not the same axis.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400" b="0">
                <a:solidFill>
                  <a:srgbClr val="5B6470"/>
                </a:solidFill>
                <a:latin typeface="Calibri"/>
              </a:rPr>
              <a:t>Groundedness is not “design-only.” It is a design-time gate AND a production canary (e.g. drift after a model swap).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600" b="0">
                <a:solidFill>
                  <a:srgbClr val="5B6470"/>
                </a:solidFill>
                <a:latin typeface="Calibri"/>
              </a:rPr>
              <a:t/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500" b="1">
                <a:solidFill>
                  <a:srgbClr val="6B4EC4"/>
                </a:solidFill>
                <a:latin typeface="Calibri"/>
              </a:rPr>
              <a:t>Keep two axes: who + when.</a:t>
            </a:r>
          </a:p>
          <a:p>
            <a:pPr algn="l">
              <a:lnSpc>
                <a:spcPct val="103000"/>
              </a:lnSpc>
              <a:spcAft>
                <a:spcPts val="900"/>
              </a:spcAft>
            </a:pPr>
            <a:r>
              <a:rPr sz="1350" b="0">
                <a:solidFill>
                  <a:srgbClr val="1A1F2B"/>
                </a:solidFill>
                <a:latin typeface="Calibri"/>
              </a:rPr>
              <a:t>The same metric recurs at multiple stages with different urgency. Collapsing the axes makes coverage look complete when it isn’t.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1968" y="2148840"/>
            <a:ext cx="3108960" cy="384048"/>
          </a:xfrm>
          <a:prstGeom prst="roundRect">
            <a:avLst/>
          </a:prstGeom>
          <a:solidFill>
            <a:srgbClr val="6B4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THE TRAP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So what do you do with this?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743200" cy="54864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19656"/>
            <a:ext cx="310896" cy="310896"/>
          </a:xfrm>
          <a:prstGeom prst="ellipse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10058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Give every persona a home dashboard.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400" b="0">
                <a:solidFill>
                  <a:srgbClr val="C9D6EA"/>
                </a:solidFill>
                <a:latin typeface="Calibri"/>
              </a:rPr>
              <a:t>Faster triage — SRE sees latency, PM sees quality, no wading.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916936"/>
            <a:ext cx="310896" cy="310896"/>
          </a:xfrm>
          <a:prstGeom prst="ellipse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80360"/>
            <a:ext cx="10058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Gate releases on a cross-persona read.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400" b="0">
                <a:solidFill>
                  <a:srgbClr val="C9D6EA"/>
                </a:solidFill>
                <a:latin typeface="Calibri"/>
              </a:rPr>
              <a:t>The dangerous failures live in the seams; require more than one lens to pass.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014216"/>
            <a:ext cx="310896" cy="310896"/>
          </a:xfrm>
          <a:prstGeom prst="ellipse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77640"/>
            <a:ext cx="10058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Tag each metric with {persona, stage}.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400" b="0">
                <a:solidFill>
                  <a:srgbClr val="C9D6EA"/>
                </a:solidFill>
                <a:latin typeface="Calibri"/>
              </a:rPr>
              <a:t>Same judge scores, rendered as different projections. Two axes, not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5111496"/>
            <a:ext cx="310896" cy="310896"/>
          </a:xfrm>
          <a:prstGeom prst="ellipse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3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74920"/>
            <a:ext cx="10058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Treat “good job” as a definition you sharpen.</a:t>
            </a:r>
          </a:p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1400" b="0">
                <a:solidFill>
                  <a:srgbClr val="C9D6EA"/>
                </a:solidFill>
                <a:latin typeface="Calibri"/>
              </a:rPr>
              <a:t>Measure → find the empty row → add the missing persona’s metric → re-run.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